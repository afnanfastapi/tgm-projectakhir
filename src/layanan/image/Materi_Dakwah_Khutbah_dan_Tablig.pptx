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281160" y="0"/>
            <a:ext cx="2907792" cy="914400"/>
          </a:xfrm>
          <a:prstGeom prst="rect">
            <a:avLst/>
          </a:prstGeom>
          <a:solidFill>
            <a:srgbClr val="147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914400"/>
            <a:ext cx="2130552" cy="457200"/>
          </a:xfrm>
          <a:prstGeom prst="rect">
            <a:avLst/>
          </a:prstGeom>
          <a:solidFill>
            <a:srgbClr val="E6A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23960" y="5486400"/>
            <a:ext cx="3364992" cy="1371600"/>
          </a:xfrm>
          <a:prstGeom prst="rect">
            <a:avLst/>
          </a:prstGeom>
          <a:solidFill>
            <a:srgbClr val="147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63640"/>
            <a:ext cx="3657600" cy="594360"/>
          </a:xfrm>
          <a:prstGeom prst="rect">
            <a:avLst/>
          </a:prstGeom>
          <a:solidFill>
            <a:srgbClr val="E6A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Aptos Display"/>
              </a:defRPr>
            </a:pPr>
            <a:r>
              <a:t>DAKWAH, KHUTBAH,</a:t>
            </a:r>
            <a:br/>
            <a:r>
              <a:t>DAN TABLIG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AE7EC"/>
                </a:solidFill>
                <a:latin typeface="Aptos"/>
              </a:defRPr>
            </a:pPr>
            <a:r>
              <a:t>Pengertian • Dasar • Ketentuan • Perbedaan • Penerapan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461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DAE7EC"/>
                </a:solidFill>
                <a:latin typeface="Aptos"/>
              </a:defRPr>
            </a:pPr>
            <a:r>
              <a:t>Menyampaikan ajaran Islam dengan ilmu, hikmah, dan akhlak mulia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8920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E6AE37"/>
                </a:solidFill>
              </a:defRPr>
            </a:pPr>
            <a:r>
              <a:t>Materi Pembelajaran Pendidikan Agama Islam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3152"/>
                </a:solidFill>
                <a:latin typeface="Aptos Display"/>
              </a:defRPr>
            </a:pPr>
            <a:r>
              <a:t>Tujuan Pembelajaran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B3641"/>
                </a:solidFill>
                <a:latin typeface="Aptos"/>
              </a:defRPr>
            </a:pPr>
            <a:r>
              <a:t>Menjelaskan pengertian dakwah, khutbah, dan tablig.</a:t>
            </a:r>
          </a:p>
          <a:p>
            <a:pPr>
              <a:spcAft>
                <a:spcPts val="1000"/>
              </a:spcAft>
              <a:defRPr sz="1900">
                <a:solidFill>
                  <a:srgbClr val="2B3641"/>
                </a:solidFill>
                <a:latin typeface="Aptos"/>
              </a:defRPr>
            </a:pPr>
            <a:r>
              <a:t>Mengidentifikasi dasar ajaran Islam tentang menyampaikan kebaikan.</a:t>
            </a:r>
          </a:p>
          <a:p>
            <a:pPr>
              <a:spcAft>
                <a:spcPts val="1000"/>
              </a:spcAft>
              <a:defRPr sz="1900">
                <a:solidFill>
                  <a:srgbClr val="2B3641"/>
                </a:solidFill>
                <a:latin typeface="Aptos"/>
              </a:defRPr>
            </a:pPr>
            <a:r>
              <a:t>Menjelaskan syarat, rukun, dan tata cara umum khutbah Jumat.</a:t>
            </a:r>
          </a:p>
          <a:p>
            <a:pPr>
              <a:spcAft>
                <a:spcPts val="1000"/>
              </a:spcAft>
              <a:defRPr sz="1900">
                <a:solidFill>
                  <a:srgbClr val="2B3641"/>
                </a:solidFill>
                <a:latin typeface="Aptos"/>
              </a:defRPr>
            </a:pPr>
            <a:r>
              <a:t>Membedakan dakwah, khutbah, dan tablig berdasarkan tujuan dan pelaksanaannya.</a:t>
            </a:r>
          </a:p>
          <a:p>
            <a:pPr>
              <a:spcAft>
                <a:spcPts val="1000"/>
              </a:spcAft>
              <a:defRPr sz="1900">
                <a:solidFill>
                  <a:srgbClr val="2B3641"/>
                </a:solidFill>
                <a:latin typeface="Aptos"/>
              </a:defRPr>
            </a:pPr>
            <a:r>
              <a:t>Menunjukkan sikap santun, bijaksana, dan bertanggung jawab saat menyampaikan pesan agama.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927080" cy="22860"/>
          </a:xfrm>
          <a:prstGeom prst="rect">
            <a:avLst/>
          </a:prstGeom>
          <a:solidFill>
            <a:srgbClr val="147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9224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47D7A"/>
                </a:solidFill>
              </a:defRPr>
            </a:pPr>
            <a:r>
              <a:t>DAKWAH, KHUTBAH, DAN TABLIG  •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3152"/>
                </a:solidFill>
                <a:latin typeface="Aptos Display"/>
              </a:defRPr>
            </a:pPr>
            <a:r>
              <a:t>1. Pengertian Dakwah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B3641"/>
                </a:solidFill>
                <a:latin typeface="Aptos"/>
              </a:defRPr>
            </a:pPr>
            <a:r>
              <a:t>Dakwah adalah usaha mengajak manusia menuju kebaikan dan ajaran Allah Swt. sesuai tuntunan Islam.</a:t>
            </a:r>
          </a:p>
          <a:p>
            <a:pPr>
              <a:spcAft>
                <a:spcPts val="1000"/>
              </a:spcAft>
              <a:defRPr sz="1900">
                <a:solidFill>
                  <a:srgbClr val="2B3641"/>
                </a:solidFill>
                <a:latin typeface="Aptos"/>
              </a:defRPr>
            </a:pPr>
            <a:r>
              <a:t>Dakwah dapat dilakukan melalui perkataan, tulisan, tindakan, keteladanan, dan kegiatan sosial.</a:t>
            </a:r>
          </a:p>
          <a:p>
            <a:pPr>
              <a:spcAft>
                <a:spcPts val="1000"/>
              </a:spcAft>
              <a:defRPr sz="1900">
                <a:solidFill>
                  <a:srgbClr val="2B3641"/>
                </a:solidFill>
                <a:latin typeface="Aptos"/>
              </a:defRPr>
            </a:pPr>
            <a:r>
              <a:t>Dakwah tidak terbatas pada ceramah di masjid; perilaku jujur, menolong sesama, dan menjaga lingkungan juga dapat menjadi sarana dakwah.</a:t>
            </a:r>
          </a:p>
          <a:p>
            <a:pPr>
              <a:spcAft>
                <a:spcPts val="1000"/>
              </a:spcAft>
              <a:defRPr sz="1900">
                <a:solidFill>
                  <a:srgbClr val="2B3641"/>
                </a:solidFill>
                <a:latin typeface="Aptos"/>
              </a:defRPr>
            </a:pPr>
            <a:r>
              <a:t>Tujuannya menumbuhkan pemahaman, keimanan, dan amal saleh dengan cara yang baik.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927080" cy="22860"/>
          </a:xfrm>
          <a:prstGeom prst="rect">
            <a:avLst/>
          </a:prstGeom>
          <a:solidFill>
            <a:srgbClr val="147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9224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47D7A"/>
                </a:solidFill>
              </a:defRPr>
            </a:pPr>
            <a:r>
              <a:t>DAKWAH, KHUTBAH, DAN TABLIG  •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3152"/>
                </a:solidFill>
                <a:latin typeface="Aptos Display"/>
              </a:defRPr>
            </a:pPr>
            <a:r>
              <a:t>2. Dasar dan Prinsip Dakwah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B3641"/>
                </a:solidFill>
                <a:latin typeface="Aptos"/>
              </a:defRPr>
            </a:pPr>
            <a:r>
              <a:t>QS. An-Nahl [16]: 125 memerintahkan menyeru ke jalan Allah dengan hikmah, nasihat yang baik, dan cara berdialog yang terbaik.</a:t>
            </a:r>
          </a:p>
          <a:p>
            <a:pPr>
              <a:spcAft>
                <a:spcPts val="1000"/>
              </a:spcAft>
              <a:defRPr sz="1700">
                <a:solidFill>
                  <a:srgbClr val="2B3641"/>
                </a:solidFill>
                <a:latin typeface="Aptos"/>
              </a:defRPr>
            </a:pPr>
            <a:r>
              <a:t>QS. Ali ‘Imran [3]: 104 menjelaskan pentingnya adanya kelompok yang mengajak kepada kebaikan.</a:t>
            </a:r>
          </a:p>
          <a:p>
            <a:pPr>
              <a:spcAft>
                <a:spcPts val="1000"/>
              </a:spcAft>
              <a:defRPr sz="1700">
                <a:solidFill>
                  <a:srgbClr val="2B3641"/>
                </a:solidFill>
                <a:latin typeface="Aptos"/>
              </a:defRPr>
            </a:pPr>
            <a:r>
              <a:t>Dakwah dilakukan dengan ilmu dan pemahaman yang benar, bukan sekadar dugaan.</a:t>
            </a:r>
          </a:p>
          <a:p>
            <a:pPr>
              <a:spcAft>
                <a:spcPts val="1000"/>
              </a:spcAft>
              <a:defRPr sz="1700">
                <a:solidFill>
                  <a:srgbClr val="2B3641"/>
                </a:solidFill>
                <a:latin typeface="Aptos"/>
              </a:defRPr>
            </a:pPr>
            <a:r>
              <a:t>Mengutamakan kelembutan, kesabaran, keteladanan, dan penghormatan kepada orang lain.</a:t>
            </a:r>
          </a:p>
          <a:p>
            <a:pPr>
              <a:spcAft>
                <a:spcPts val="1000"/>
              </a:spcAft>
              <a:defRPr sz="1700">
                <a:solidFill>
                  <a:srgbClr val="2B3641"/>
                </a:solidFill>
                <a:latin typeface="Aptos"/>
              </a:defRPr>
            </a:pPr>
            <a:r>
              <a:t>Tidak memaksa, menghina, menyebarkan kebencian, atau menyampaikan informasi agama yang belum jelas kebenarannya.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927080" cy="22860"/>
          </a:xfrm>
          <a:prstGeom prst="rect">
            <a:avLst/>
          </a:prstGeom>
          <a:solidFill>
            <a:srgbClr val="147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9224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47D7A"/>
                </a:solidFill>
              </a:defRPr>
            </a:pPr>
            <a:r>
              <a:t>DAKWAH, KHUTBAH, DAN TABLIG  •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3152"/>
                </a:solidFill>
                <a:latin typeface="Aptos Display"/>
              </a:defRPr>
            </a:pPr>
            <a:r>
              <a:t>3. Bentuk dan Metode Dakwah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B3641"/>
                </a:solidFill>
                <a:latin typeface="Aptos"/>
              </a:defRPr>
            </a:pPr>
            <a:r>
              <a:t>Dakwah bil-lisan: melalui ucapan, ceramah, diskusi, nasihat, atau pengajaran.</a:t>
            </a:r>
          </a:p>
          <a:p>
            <a:pPr>
              <a:spcAft>
                <a:spcPts val="1000"/>
              </a:spcAft>
              <a:defRPr sz="1700">
                <a:solidFill>
                  <a:srgbClr val="2B3641"/>
                </a:solidFill>
                <a:latin typeface="Aptos"/>
              </a:defRPr>
            </a:pPr>
            <a:r>
              <a:t>Dakwah bil-kitabah: melalui tulisan, buku, artikel, poster, atau media digital.</a:t>
            </a:r>
          </a:p>
          <a:p>
            <a:pPr>
              <a:spcAft>
                <a:spcPts val="1000"/>
              </a:spcAft>
              <a:defRPr sz="1700">
                <a:solidFill>
                  <a:srgbClr val="2B3641"/>
                </a:solidFill>
                <a:latin typeface="Aptos"/>
              </a:defRPr>
            </a:pPr>
            <a:r>
              <a:t>Dakwah bil-hal: melalui tindakan nyata, pelayanan sosial, kejujuran, dan keteladanan.</a:t>
            </a:r>
          </a:p>
          <a:p>
            <a:pPr>
              <a:spcAft>
                <a:spcPts val="1000"/>
              </a:spcAft>
              <a:defRPr sz="1700">
                <a:solidFill>
                  <a:srgbClr val="2B3641"/>
                </a:solidFill>
                <a:latin typeface="Aptos"/>
              </a:defRPr>
            </a:pPr>
            <a:r>
              <a:t>Metode hikmah: menyampaikan pesan secara tepat, bijaksana, dan sesuai keadaan sasaran.</a:t>
            </a:r>
          </a:p>
          <a:p>
            <a:pPr>
              <a:spcAft>
                <a:spcPts val="1000"/>
              </a:spcAft>
              <a:defRPr sz="1700">
                <a:solidFill>
                  <a:srgbClr val="2B3641"/>
                </a:solidFill>
                <a:latin typeface="Aptos"/>
              </a:defRPr>
            </a:pPr>
            <a:r>
              <a:t>Mau‘izah hasanah: nasihat yang baik dan menyentuh hati.</a:t>
            </a:r>
          </a:p>
          <a:p>
            <a:pPr>
              <a:spcAft>
                <a:spcPts val="1000"/>
              </a:spcAft>
              <a:defRPr sz="1700">
                <a:solidFill>
                  <a:srgbClr val="2B3641"/>
                </a:solidFill>
                <a:latin typeface="Aptos"/>
              </a:defRPr>
            </a:pPr>
            <a:r>
              <a:t>Mujadalah billati hiya ahsan: berdialog dengan cara terbaik, sopan, dan berlandaskan pengetahuan.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927080" cy="22860"/>
          </a:xfrm>
          <a:prstGeom prst="rect">
            <a:avLst/>
          </a:prstGeom>
          <a:solidFill>
            <a:srgbClr val="147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9224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47D7A"/>
                </a:solidFill>
              </a:defRPr>
            </a:pPr>
            <a:r>
              <a:t>DAKWAH, KHUTBAH, DAN TABLIG  •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3152"/>
                </a:solidFill>
                <a:latin typeface="Aptos Display"/>
              </a:defRPr>
            </a:pPr>
            <a:r>
              <a:t>4. Pengertian Tablig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B3641"/>
                </a:solidFill>
                <a:latin typeface="Aptos"/>
              </a:defRPr>
            </a:pPr>
            <a:r>
              <a:t>Tablig berarti menyampaikan ajaran atau pesan Islam kepada orang lain.</a:t>
            </a:r>
          </a:p>
          <a:p>
            <a:pPr>
              <a:spcAft>
                <a:spcPts val="1000"/>
              </a:spcAft>
              <a:defRPr sz="1800">
                <a:solidFill>
                  <a:srgbClr val="2B3641"/>
                </a:solidFill>
                <a:latin typeface="Aptos"/>
              </a:defRPr>
            </a:pPr>
            <a:r>
              <a:t>Orang yang menyampaikan tablig sering disebut mubalig untuk laki-laki atau mubaligah untuk perempuan.</a:t>
            </a:r>
          </a:p>
          <a:p>
            <a:pPr>
              <a:spcAft>
                <a:spcPts val="1000"/>
              </a:spcAft>
              <a:defRPr sz="1800">
                <a:solidFill>
                  <a:srgbClr val="2B3641"/>
                </a:solidFill>
                <a:latin typeface="Aptos"/>
              </a:defRPr>
            </a:pPr>
            <a:r>
              <a:t>Tablig dapat dilakukan dalam pengajian, ceramah, pertemuan masyarakat, atau media komunikasi.</a:t>
            </a:r>
          </a:p>
          <a:p>
            <a:pPr>
              <a:spcAft>
                <a:spcPts val="1000"/>
              </a:spcAft>
              <a:defRPr sz="1800">
                <a:solidFill>
                  <a:srgbClr val="2B3641"/>
                </a:solidFill>
                <a:latin typeface="Aptos"/>
              </a:defRPr>
            </a:pPr>
            <a:r>
              <a:t>Pesan yang disampaikan harus benar, jelas, bermanfaat, dan tidak menyesatkan.</a:t>
            </a:r>
          </a:p>
          <a:p>
            <a:pPr>
              <a:spcAft>
                <a:spcPts val="1000"/>
              </a:spcAft>
              <a:defRPr sz="1800">
                <a:solidFill>
                  <a:srgbClr val="2B3641"/>
                </a:solidFill>
                <a:latin typeface="Aptos"/>
              </a:defRPr>
            </a:pPr>
            <a:r>
              <a:t>Tablig merupakan salah satu cara berdakwah; dakwah memiliki cakupan lebih luas karena juga meliputi keteladanan dan tindakan.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927080" cy="22860"/>
          </a:xfrm>
          <a:prstGeom prst="rect">
            <a:avLst/>
          </a:prstGeom>
          <a:solidFill>
            <a:srgbClr val="147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9224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47D7A"/>
                </a:solidFill>
              </a:defRPr>
            </a:pPr>
            <a:r>
              <a:t>DAKWAH, KHUTBAH, DAN TABLIG  •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3152"/>
                </a:solidFill>
                <a:latin typeface="Aptos Display"/>
              </a:defRPr>
            </a:pPr>
            <a:r>
              <a:t>5. Adab dan Tanggung Jawab dalam Tablig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B3641"/>
                </a:solidFill>
                <a:latin typeface="Aptos"/>
              </a:defRPr>
            </a:pPr>
            <a:r>
              <a:t>Memiliki pemahaman yang cukup tentang materi yang disampaikan.</a:t>
            </a:r>
          </a:p>
          <a:p>
            <a:pPr>
              <a:spcAft>
                <a:spcPts val="1000"/>
              </a:spcAft>
              <a:defRPr sz="1700">
                <a:solidFill>
                  <a:srgbClr val="2B3641"/>
                </a:solidFill>
                <a:latin typeface="Aptos"/>
              </a:defRPr>
            </a:pPr>
            <a:r>
              <a:t>Menyampaikan dalil dan informasi secara akurat serta tidak memotong konteks.</a:t>
            </a:r>
          </a:p>
          <a:p>
            <a:pPr>
              <a:spcAft>
                <a:spcPts val="1000"/>
              </a:spcAft>
              <a:defRPr sz="1700">
                <a:solidFill>
                  <a:srgbClr val="2B3641"/>
                </a:solidFill>
                <a:latin typeface="Aptos"/>
              </a:defRPr>
            </a:pPr>
            <a:r>
              <a:t>Menggunakan bahasa santun, mudah dipahami, dan tidak merendahkan pihak lain.</a:t>
            </a:r>
          </a:p>
          <a:p>
            <a:pPr>
              <a:spcAft>
                <a:spcPts val="1000"/>
              </a:spcAft>
              <a:defRPr sz="1700">
                <a:solidFill>
                  <a:srgbClr val="2B3641"/>
                </a:solidFill>
                <a:latin typeface="Aptos"/>
              </a:defRPr>
            </a:pPr>
            <a:r>
              <a:t>Menyesuaikan materi dengan usia, kebutuhan, dan keadaan pendengar.</a:t>
            </a:r>
          </a:p>
          <a:p>
            <a:pPr>
              <a:spcAft>
                <a:spcPts val="1000"/>
              </a:spcAft>
              <a:defRPr sz="1700">
                <a:solidFill>
                  <a:srgbClr val="2B3641"/>
                </a:solidFill>
                <a:latin typeface="Aptos"/>
              </a:defRPr>
            </a:pPr>
            <a:r>
              <a:t>Mau mengakui jika belum mengetahui jawaban dan bersedia merujuk kepada orang yang ahli.</a:t>
            </a:r>
          </a:p>
          <a:p>
            <a:pPr>
              <a:spcAft>
                <a:spcPts val="1000"/>
              </a:spcAft>
              <a:defRPr sz="1700">
                <a:solidFill>
                  <a:srgbClr val="2B3641"/>
                </a:solidFill>
                <a:latin typeface="Aptos"/>
              </a:defRPr>
            </a:pPr>
            <a:r>
              <a:t>Menggunakan media sosial secara bertanggung jawab dan memeriksa informasi sebelum membagikannya.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927080" cy="22860"/>
          </a:xfrm>
          <a:prstGeom prst="rect">
            <a:avLst/>
          </a:prstGeom>
          <a:solidFill>
            <a:srgbClr val="147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9224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47D7A"/>
                </a:solidFill>
              </a:defRPr>
            </a:pPr>
            <a:r>
              <a:t>DAKWAH, KHUTBAH, DAN TABLIG  •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3152"/>
                </a:solidFill>
                <a:latin typeface="Aptos Display"/>
              </a:defRPr>
            </a:pPr>
            <a:r>
              <a:t>6. Pengertian Khutbah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B3641"/>
                </a:solidFill>
                <a:latin typeface="Aptos"/>
              </a:defRPr>
            </a:pPr>
            <a:r>
              <a:t>Khutbah adalah penyampaian pesan keagamaan secara terstruktur dalam ibadah atau kesempatan tertentu, seperti khutbah Jumat dan khutbah Id.</a:t>
            </a:r>
          </a:p>
          <a:p>
            <a:pPr>
              <a:spcAft>
                <a:spcPts val="1000"/>
              </a:spcAft>
              <a:defRPr sz="1800">
                <a:solidFill>
                  <a:srgbClr val="2B3641"/>
                </a:solidFill>
                <a:latin typeface="Aptos"/>
              </a:defRPr>
            </a:pPr>
            <a:r>
              <a:t>Khutbah Jumat memiliki ketentuan khusus yang berkaitan dengan waktu, khatib, isi khutbah, serta pelaksanaan salat Jumat.</a:t>
            </a:r>
          </a:p>
          <a:p>
            <a:pPr>
              <a:spcAft>
                <a:spcPts val="1000"/>
              </a:spcAft>
              <a:defRPr sz="1800">
                <a:solidFill>
                  <a:srgbClr val="2B3641"/>
                </a:solidFill>
                <a:latin typeface="Aptos"/>
              </a:defRPr>
            </a:pPr>
            <a:r>
              <a:t>Orang yang menyampaikan khutbah disebut khatib.</a:t>
            </a:r>
          </a:p>
          <a:p>
            <a:pPr>
              <a:spcAft>
                <a:spcPts val="1000"/>
              </a:spcAft>
              <a:defRPr sz="1800">
                <a:solidFill>
                  <a:srgbClr val="2B3641"/>
                </a:solidFill>
                <a:latin typeface="Aptos"/>
              </a:defRPr>
            </a:pPr>
            <a:r>
              <a:t>Khutbah tidak hanya berisi informasi, tetapi juga nasihat untuk meningkatkan ketakwaan dan memperbaiki perilaku.</a:t>
            </a:r>
          </a:p>
          <a:p>
            <a:pPr>
              <a:spcAft>
                <a:spcPts val="1000"/>
              </a:spcAft>
              <a:defRPr sz="1800">
                <a:solidFill>
                  <a:srgbClr val="2B3641"/>
                </a:solidFill>
                <a:latin typeface="Aptos"/>
              </a:defRPr>
            </a:pPr>
            <a:r>
              <a:t>Rincian syarat dan rukun dapat berbeda menurut penjelasan fikih dan mazhab yang diikuti.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927080" cy="22860"/>
          </a:xfrm>
          <a:prstGeom prst="rect">
            <a:avLst/>
          </a:prstGeom>
          <a:solidFill>
            <a:srgbClr val="147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9224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47D7A"/>
                </a:solidFill>
              </a:defRPr>
            </a:pPr>
            <a:r>
              <a:t>DAKWAH, KHUTBAH, DAN TABLIG  •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3152"/>
                </a:solidFill>
                <a:latin typeface="Aptos Display"/>
              </a:defRPr>
            </a:pPr>
            <a:r>
              <a:t>7. Ketentuan Umum Khutbah Jumat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B3641"/>
                </a:solidFill>
                <a:latin typeface="Aptos"/>
              </a:defRPr>
            </a:pPr>
            <a:r>
              <a:t>Khutbah Jumat dilaksanakan sebelum salat Jumat dan menjadi bagian penting dalam tata cara pelaksanaan salat Jumat.</a:t>
            </a:r>
          </a:p>
          <a:p>
            <a:pPr>
              <a:spcAft>
                <a:spcPts val="1000"/>
              </a:spcAft>
              <a:defRPr sz="1700">
                <a:solidFill>
                  <a:srgbClr val="2B3641"/>
                </a:solidFill>
                <a:latin typeface="Aptos"/>
              </a:defRPr>
            </a:pPr>
            <a:r>
              <a:t>Secara umum, khutbah Jumat terdiri atas dua khutbah yang dipisahkan dengan duduk sejenak.</a:t>
            </a:r>
          </a:p>
          <a:p>
            <a:pPr>
              <a:spcAft>
                <a:spcPts val="1000"/>
              </a:spcAft>
              <a:defRPr sz="1700">
                <a:solidFill>
                  <a:srgbClr val="2B3641"/>
                </a:solidFill>
                <a:latin typeface="Aptos"/>
              </a:defRPr>
            </a:pPr>
            <a:r>
              <a:t>Khatib menyampaikan khutbah dengan tertib, suara yang jelas, serta isi yang bermanfaat.</a:t>
            </a:r>
          </a:p>
          <a:p>
            <a:pPr>
              <a:spcAft>
                <a:spcPts val="1000"/>
              </a:spcAft>
              <a:defRPr sz="1700">
                <a:solidFill>
                  <a:srgbClr val="2B3641"/>
                </a:solidFill>
                <a:latin typeface="Aptos"/>
              </a:defRPr>
            </a:pPr>
            <a:r>
              <a:t>Jamaah dianjurkan mendengarkan khutbah dengan tenang dan tidak melakukan hal yang mengganggu.</a:t>
            </a:r>
          </a:p>
          <a:p>
            <a:pPr>
              <a:spcAft>
                <a:spcPts val="1000"/>
              </a:spcAft>
              <a:defRPr sz="1700">
                <a:solidFill>
                  <a:srgbClr val="2B3641"/>
                </a:solidFill>
                <a:latin typeface="Aptos"/>
              </a:defRPr>
            </a:pPr>
            <a:r>
              <a:t>Syarat rinci seperti kesucian, menutup aurat, berdiri, atau penggunaan bahasa mengikuti ketentuan fikih yang dipelajari dan pedoman setempat.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927080" cy="22860"/>
          </a:xfrm>
          <a:prstGeom prst="rect">
            <a:avLst/>
          </a:prstGeom>
          <a:solidFill>
            <a:srgbClr val="147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9224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47D7A"/>
                </a:solidFill>
              </a:defRPr>
            </a:pPr>
            <a:r>
              <a:t>DAKWAH, KHUTBAH, DAN TABLIG  •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3152"/>
                </a:solidFill>
                <a:latin typeface="Aptos Display"/>
              </a:defRPr>
            </a:pPr>
            <a:r>
              <a:t>8. Rukun Khutbah Jumat (Menurut Mazhab Syafi‘i)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B3641"/>
                </a:solidFill>
                <a:latin typeface="Aptos"/>
              </a:defRPr>
            </a:pPr>
            <a:r>
              <a:t>Membaca hamdalah atau pujian kepada Allah pada kedua khutbah.</a:t>
            </a:r>
          </a:p>
          <a:p>
            <a:pPr>
              <a:spcAft>
                <a:spcPts val="1000"/>
              </a:spcAft>
              <a:defRPr sz="1600">
                <a:solidFill>
                  <a:srgbClr val="2B3641"/>
                </a:solidFill>
                <a:latin typeface="Aptos"/>
              </a:defRPr>
            </a:pPr>
            <a:r>
              <a:t>Membaca selawat kepada Nabi Muhammad saw. pada kedua khutbah.</a:t>
            </a:r>
          </a:p>
          <a:p>
            <a:pPr>
              <a:spcAft>
                <a:spcPts val="1000"/>
              </a:spcAft>
              <a:defRPr sz="1600">
                <a:solidFill>
                  <a:srgbClr val="2B3641"/>
                </a:solidFill>
                <a:latin typeface="Aptos"/>
              </a:defRPr>
            </a:pPr>
            <a:r>
              <a:t>Berwasiat atau mengajak jamaah untuk bertakwa pada kedua khutbah.</a:t>
            </a:r>
          </a:p>
          <a:p>
            <a:pPr>
              <a:spcAft>
                <a:spcPts val="1000"/>
              </a:spcAft>
              <a:defRPr sz="1600">
                <a:solidFill>
                  <a:srgbClr val="2B3641"/>
                </a:solidFill>
                <a:latin typeface="Aptos"/>
              </a:defRPr>
            </a:pPr>
            <a:r>
              <a:t>Membaca ayat Al-Qur’an pada salah satu khutbah; dianjurkan pada khutbah pertama.</a:t>
            </a:r>
          </a:p>
          <a:p>
            <a:pPr>
              <a:spcAft>
                <a:spcPts val="1000"/>
              </a:spcAft>
              <a:defRPr sz="1600">
                <a:solidFill>
                  <a:srgbClr val="2B3641"/>
                </a:solidFill>
                <a:latin typeface="Aptos"/>
              </a:defRPr>
            </a:pPr>
            <a:r>
              <a:t>Mendoakan kaum mukminin pada khutbah kedua menurut ketentuan mazhab Syafi‘i.</a:t>
            </a:r>
          </a:p>
          <a:p>
            <a:pPr>
              <a:spcAft>
                <a:spcPts val="1000"/>
              </a:spcAft>
              <a:defRPr sz="1600">
                <a:solidFill>
                  <a:srgbClr val="2B3641"/>
                </a:solidFill>
                <a:latin typeface="Aptos"/>
              </a:defRPr>
            </a:pPr>
            <a:r>
              <a:t>Catatan: daftar ini mengikuti pengajaran fikih mazhab Syafi‘i yang umum di Indonesia; rujuk guru atau pedoman fikih yang digunakan untuk rincian lengkap.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927080" cy="22860"/>
          </a:xfrm>
          <a:prstGeom prst="rect">
            <a:avLst/>
          </a:prstGeom>
          <a:solidFill>
            <a:srgbClr val="147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9224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47D7A"/>
                </a:solidFill>
              </a:defRPr>
            </a:pPr>
            <a:r>
              <a:t>DAKWAH, KHUTBAH, DAN TABLIG  •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3152"/>
                </a:solidFill>
                <a:latin typeface="Aptos Display"/>
              </a:defRPr>
            </a:pPr>
            <a:r>
              <a:t>9. Struktur Khutbah Jumat secara Sederhana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B3641"/>
                </a:solidFill>
                <a:latin typeface="Aptos"/>
              </a:defRPr>
            </a:pPr>
            <a:r>
              <a:t>Pembukaan: hamdalah, selawat, dan wasiat takwa sesuai rukun yang dipelajari.</a:t>
            </a:r>
          </a:p>
          <a:p>
            <a:pPr>
              <a:spcAft>
                <a:spcPts val="1000"/>
              </a:spcAft>
              <a:defRPr sz="1700">
                <a:solidFill>
                  <a:srgbClr val="2B3641"/>
                </a:solidFill>
                <a:latin typeface="Aptos"/>
              </a:defRPr>
            </a:pPr>
            <a:r>
              <a:t>Isi khutbah pertama: tema utama, penjelasan singkat, dalil yang relevan, dan nasihat praktis.</a:t>
            </a:r>
          </a:p>
          <a:p>
            <a:pPr>
              <a:spcAft>
                <a:spcPts val="1000"/>
              </a:spcAft>
              <a:defRPr sz="1700">
                <a:solidFill>
                  <a:srgbClr val="2B3641"/>
                </a:solidFill>
                <a:latin typeface="Aptos"/>
              </a:defRPr>
            </a:pPr>
            <a:r>
              <a:t>Duduk di antara dua khutbah.</a:t>
            </a:r>
          </a:p>
          <a:p>
            <a:pPr>
              <a:spcAft>
                <a:spcPts val="1000"/>
              </a:spcAft>
              <a:defRPr sz="1700">
                <a:solidFill>
                  <a:srgbClr val="2B3641"/>
                </a:solidFill>
                <a:latin typeface="Aptos"/>
              </a:defRPr>
            </a:pPr>
            <a:r>
              <a:t>Khutbah kedua: pujian dan selawat sesuai ketentuan, penguatan pesan, doa, dan penutup.</a:t>
            </a:r>
          </a:p>
          <a:p>
            <a:pPr>
              <a:spcAft>
                <a:spcPts val="1000"/>
              </a:spcAft>
              <a:defRPr sz="1700">
                <a:solidFill>
                  <a:srgbClr val="2B3641"/>
                </a:solidFill>
                <a:latin typeface="Aptos"/>
              </a:defRPr>
            </a:pPr>
            <a:r>
              <a:t>Isi sebaiknya ringkas, jelas, sesuai kebutuhan jamaah, serta tidak berisi fitnah atau informasi yang belum terverifikasi.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927080" cy="22860"/>
          </a:xfrm>
          <a:prstGeom prst="rect">
            <a:avLst/>
          </a:prstGeom>
          <a:solidFill>
            <a:srgbClr val="147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9224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47D7A"/>
                </a:solidFill>
              </a:defRPr>
            </a:pPr>
            <a:r>
              <a:t>DAKWAH, KHUTBAH, DAN TABLIG  •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3152"/>
                </a:solidFill>
                <a:latin typeface="Aptos Display"/>
              </a:defRPr>
            </a:pPr>
            <a:r>
              <a:t>10. Perbedaan Dakwah, Tablig, dan Khutbah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B3641"/>
                </a:solidFill>
                <a:latin typeface="Aptos"/>
              </a:defRPr>
            </a:pPr>
            <a:r>
              <a:t>Dakwah: cakupannya paling luas; mengajak kepada kebaikan melalui ucapan, tulisan, tindakan, dan keteladanan.</a:t>
            </a:r>
          </a:p>
          <a:p>
            <a:pPr>
              <a:spcAft>
                <a:spcPts val="1000"/>
              </a:spcAft>
              <a:defRPr sz="1600">
                <a:solidFill>
                  <a:srgbClr val="2B3641"/>
                </a:solidFill>
                <a:latin typeface="Aptos"/>
              </a:defRPr>
            </a:pPr>
            <a:r>
              <a:t>Tablig: menekankan kegiatan menyampaikan pesan atau ajaran Islam kepada orang lain.</a:t>
            </a:r>
          </a:p>
          <a:p>
            <a:pPr>
              <a:spcAft>
                <a:spcPts val="1000"/>
              </a:spcAft>
              <a:defRPr sz="1600">
                <a:solidFill>
                  <a:srgbClr val="2B3641"/>
                </a:solidFill>
                <a:latin typeface="Aptos"/>
              </a:defRPr>
            </a:pPr>
            <a:r>
              <a:t>Khutbah: penyampaian nasihat agama dengan susunan dan ketentuan tertentu, terutama dalam ibadah seperti salat Jumat.</a:t>
            </a:r>
          </a:p>
          <a:p>
            <a:pPr>
              <a:spcAft>
                <a:spcPts val="1000"/>
              </a:spcAft>
              <a:defRPr sz="1600">
                <a:solidFill>
                  <a:srgbClr val="2B3641"/>
                </a:solidFill>
                <a:latin typeface="Aptos"/>
              </a:defRPr>
            </a:pPr>
            <a:r>
              <a:t>Contoh dakwah: membantu tetangga dan mengajak berbuat baik.</a:t>
            </a:r>
          </a:p>
          <a:p>
            <a:pPr>
              <a:spcAft>
                <a:spcPts val="1000"/>
              </a:spcAft>
              <a:defRPr sz="1600">
                <a:solidFill>
                  <a:srgbClr val="2B3641"/>
                </a:solidFill>
                <a:latin typeface="Aptos"/>
              </a:defRPr>
            </a:pPr>
            <a:r>
              <a:t>Contoh tablig: menyampaikan ceramah tentang kejujuran.</a:t>
            </a:r>
          </a:p>
          <a:p>
            <a:pPr>
              <a:spcAft>
                <a:spcPts val="1000"/>
              </a:spcAft>
              <a:defRPr sz="1600">
                <a:solidFill>
                  <a:srgbClr val="2B3641"/>
                </a:solidFill>
                <a:latin typeface="Aptos"/>
              </a:defRPr>
            </a:pPr>
            <a:r>
              <a:t>Contoh khutbah: khatib menyampaikan khutbah Jumat sebelum salat.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927080" cy="22860"/>
          </a:xfrm>
          <a:prstGeom prst="rect">
            <a:avLst/>
          </a:prstGeom>
          <a:solidFill>
            <a:srgbClr val="147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9224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47D7A"/>
                </a:solidFill>
              </a:defRPr>
            </a:pPr>
            <a:r>
              <a:t>DAKWAH, KHUTBAH, DAN TABLIG  •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3152"/>
                </a:solidFill>
                <a:latin typeface="Aptos Display"/>
              </a:defRPr>
            </a:pPr>
            <a:r>
              <a:t>11. Contoh Penerapan dalam Kehidupan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B3641"/>
                </a:solidFill>
                <a:latin typeface="Aptos"/>
              </a:defRPr>
            </a:pPr>
            <a:r>
              <a:t>Di sekolah: mengajak teman menjaga kejujuran melalui nasihat yang santun dan memberi teladan.</a:t>
            </a:r>
          </a:p>
          <a:p>
            <a:pPr>
              <a:spcAft>
                <a:spcPts val="1000"/>
              </a:spcAft>
              <a:defRPr sz="1800">
                <a:solidFill>
                  <a:srgbClr val="2B3641"/>
                </a:solidFill>
                <a:latin typeface="Aptos"/>
              </a:defRPr>
            </a:pPr>
            <a:r>
              <a:t>Di masyarakat: menyelenggarakan pengajian dengan materi yang benar dan bermanfaat.</a:t>
            </a:r>
          </a:p>
          <a:p>
            <a:pPr>
              <a:spcAft>
                <a:spcPts val="1000"/>
              </a:spcAft>
              <a:defRPr sz="1800">
                <a:solidFill>
                  <a:srgbClr val="2B3641"/>
                </a:solidFill>
                <a:latin typeface="Aptos"/>
              </a:defRPr>
            </a:pPr>
            <a:r>
              <a:t>Di media sosial: membagikan pesan keagamaan dari sumber tepercaya dan menghindari provokasi.</a:t>
            </a:r>
          </a:p>
          <a:p>
            <a:pPr>
              <a:spcAft>
                <a:spcPts val="1000"/>
              </a:spcAft>
              <a:defRPr sz="1800">
                <a:solidFill>
                  <a:srgbClr val="2B3641"/>
                </a:solidFill>
                <a:latin typeface="Aptos"/>
              </a:defRPr>
            </a:pPr>
            <a:r>
              <a:t>Di masjid: khatib menyiapkan khutbah yang memenuhi ketentuan dan relevan dengan kebutuhan jamaah.</a:t>
            </a:r>
          </a:p>
          <a:p>
            <a:pPr>
              <a:spcAft>
                <a:spcPts val="1000"/>
              </a:spcAft>
              <a:defRPr sz="1800">
                <a:solidFill>
                  <a:srgbClr val="2B3641"/>
                </a:solidFill>
                <a:latin typeface="Aptos"/>
              </a:defRPr>
            </a:pPr>
            <a:r>
              <a:t>Dalam keluarga: membiasakan saling mengingatkan dengan kasih sayang, kesabaran, dan penghormatan.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927080" cy="22860"/>
          </a:xfrm>
          <a:prstGeom prst="rect">
            <a:avLst/>
          </a:prstGeom>
          <a:solidFill>
            <a:srgbClr val="147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9224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47D7A"/>
                </a:solidFill>
              </a:defRPr>
            </a:pPr>
            <a:r>
              <a:t>DAKWAH, KHUTBAH, DAN TABLIG  •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3152"/>
                </a:solidFill>
                <a:latin typeface="Aptos Display"/>
              </a:defRPr>
            </a:pPr>
            <a:r>
              <a:t>12. Tantangan Dakwah di Era Digital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B3641"/>
                </a:solidFill>
                <a:latin typeface="Aptos"/>
              </a:defRPr>
            </a:pPr>
            <a:r>
              <a:t>Informasi agama yang keliru atau dipotong dari konteks mudah menyebar.</a:t>
            </a:r>
          </a:p>
          <a:p>
            <a:pPr>
              <a:spcAft>
                <a:spcPts val="1000"/>
              </a:spcAft>
              <a:defRPr sz="1700">
                <a:solidFill>
                  <a:srgbClr val="2B3641"/>
                </a:solidFill>
                <a:latin typeface="Aptos"/>
              </a:defRPr>
            </a:pPr>
            <a:r>
              <a:t>Perbedaan pendapat dapat memicu perdebatan jika disampaikan dengan kasar.</a:t>
            </a:r>
          </a:p>
          <a:p>
            <a:pPr>
              <a:spcAft>
                <a:spcPts val="1000"/>
              </a:spcAft>
              <a:defRPr sz="1700">
                <a:solidFill>
                  <a:srgbClr val="2B3641"/>
                </a:solidFill>
                <a:latin typeface="Aptos"/>
              </a:defRPr>
            </a:pPr>
            <a:r>
              <a:t>Konten singkat berisiko menyederhanakan persoalan agama yang memerlukan penjelasan.</a:t>
            </a:r>
          </a:p>
          <a:p>
            <a:pPr>
              <a:spcAft>
                <a:spcPts val="1000"/>
              </a:spcAft>
              <a:defRPr sz="1700">
                <a:solidFill>
                  <a:srgbClr val="2B3641"/>
                </a:solidFill>
                <a:latin typeface="Aptos"/>
              </a:defRPr>
            </a:pPr>
            <a:r>
              <a:t>Solusi: periksa sumber, pahami konteks, gunakan bahasa santun, dan konsultasikan persoalan rumit kepada ahli.</a:t>
            </a:r>
          </a:p>
          <a:p>
            <a:pPr>
              <a:spcAft>
                <a:spcPts val="1000"/>
              </a:spcAft>
              <a:defRPr sz="1700">
                <a:solidFill>
                  <a:srgbClr val="2B3641"/>
                </a:solidFill>
                <a:latin typeface="Aptos"/>
              </a:defRPr>
            </a:pPr>
            <a:r>
              <a:t>Tujuan komunikasi adalah menyampaikan kebenaran dan kebaikan, bukan mencari kemenangan dalam perdebatan.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927080" cy="22860"/>
          </a:xfrm>
          <a:prstGeom prst="rect">
            <a:avLst/>
          </a:prstGeom>
          <a:solidFill>
            <a:srgbClr val="147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9224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47D7A"/>
                </a:solidFill>
              </a:defRPr>
            </a:pPr>
            <a:r>
              <a:t>DAKWAH, KHUTBAH, DAN TABLIG  •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3152"/>
                </a:solidFill>
                <a:latin typeface="Aptos Display"/>
              </a:defRPr>
            </a:pPr>
            <a:r>
              <a:t>13. Studi Kasus untuk Diskusi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B3641"/>
                </a:solidFill>
                <a:latin typeface="Aptos"/>
              </a:defRPr>
            </a:pPr>
            <a:r>
              <a:t>Kasus A: Seorang siswa menasihati temannya yang berbuat salah dengan mempermalukannya di depan kelas. Bagaimana cara yang lebih bijaksana?</a:t>
            </a:r>
          </a:p>
          <a:p>
            <a:pPr>
              <a:spcAft>
                <a:spcPts val="1000"/>
              </a:spcAft>
              <a:defRPr sz="1600">
                <a:solidFill>
                  <a:srgbClr val="2B3641"/>
                </a:solidFill>
                <a:latin typeface="Aptos"/>
              </a:defRPr>
            </a:pPr>
            <a:r>
              <a:t>Kasus B: Seseorang membagikan kutipan agama di media sosial tanpa memeriksa sumbernya. Apa langkah yang seharusnya dilakukan?</a:t>
            </a:r>
          </a:p>
          <a:p>
            <a:pPr>
              <a:spcAft>
                <a:spcPts val="1000"/>
              </a:spcAft>
              <a:defRPr sz="1600">
                <a:solidFill>
                  <a:srgbClr val="2B3641"/>
                </a:solidFill>
                <a:latin typeface="Aptos"/>
              </a:defRPr>
            </a:pPr>
            <a:r>
              <a:t>Kasus C: Khatib menyampaikan khutbah yang terlalu panjang dan tidak terstruktur. Bagaimana khutbah dapat dibuat lebih efektif?</a:t>
            </a:r>
          </a:p>
          <a:p>
            <a:pPr>
              <a:spcAft>
                <a:spcPts val="1000"/>
              </a:spcAft>
              <a:defRPr sz="1600">
                <a:solidFill>
                  <a:srgbClr val="2B3641"/>
                </a:solidFill>
                <a:latin typeface="Aptos"/>
              </a:defRPr>
            </a:pPr>
            <a:r>
              <a:t>Diskusikan nilai hikmah, tabayun (memeriksa informasi), tanggung jawab, dan penghormatan kepada orang lain.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927080" cy="22860"/>
          </a:xfrm>
          <a:prstGeom prst="rect">
            <a:avLst/>
          </a:prstGeom>
          <a:solidFill>
            <a:srgbClr val="147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9224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47D7A"/>
                </a:solidFill>
              </a:defRPr>
            </a:pPr>
            <a:r>
              <a:t>DAKWAH, KHUTBAH, DAN TABLIG  •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3152"/>
                </a:solidFill>
                <a:latin typeface="Aptos Display"/>
              </a:defRPr>
            </a:pPr>
            <a:r>
              <a:t>Rangkuman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B3641"/>
                </a:solidFill>
                <a:latin typeface="Aptos"/>
              </a:defRPr>
            </a:pPr>
            <a:r>
              <a:t>Dakwah adalah ajakan menuju kebaikan dengan cakupan luas, termasuk ucapan dan keteladanan.</a:t>
            </a:r>
          </a:p>
          <a:p>
            <a:pPr>
              <a:spcAft>
                <a:spcPts val="1000"/>
              </a:spcAft>
              <a:defRPr sz="1800">
                <a:solidFill>
                  <a:srgbClr val="2B3641"/>
                </a:solidFill>
                <a:latin typeface="Aptos"/>
              </a:defRPr>
            </a:pPr>
            <a:r>
              <a:t>Tablig menekankan penyampaian pesan Islam secara benar, jelas, dan bertanggung jawab.</a:t>
            </a:r>
          </a:p>
          <a:p>
            <a:pPr>
              <a:spcAft>
                <a:spcPts val="1000"/>
              </a:spcAft>
              <a:defRPr sz="1800">
                <a:solidFill>
                  <a:srgbClr val="2B3641"/>
                </a:solidFill>
                <a:latin typeface="Aptos"/>
              </a:defRPr>
            </a:pPr>
            <a:r>
              <a:t>Khutbah adalah penyampaian nasihat agama yang memiliki susunan dan ketentuan khusus.</a:t>
            </a:r>
          </a:p>
          <a:p>
            <a:pPr>
              <a:spcAft>
                <a:spcPts val="1000"/>
              </a:spcAft>
              <a:defRPr sz="1800">
                <a:solidFill>
                  <a:srgbClr val="2B3641"/>
                </a:solidFill>
                <a:latin typeface="Aptos"/>
              </a:defRPr>
            </a:pPr>
            <a:r>
              <a:t>Ketiganya memerlukan ilmu, kejujuran, kesantunan, kebijaksanaan, dan akhlak mulia.</a:t>
            </a:r>
          </a:p>
          <a:p>
            <a:pPr>
              <a:spcAft>
                <a:spcPts val="1000"/>
              </a:spcAft>
              <a:defRPr sz="1800">
                <a:solidFill>
                  <a:srgbClr val="2B3641"/>
                </a:solidFill>
                <a:latin typeface="Aptos"/>
              </a:defRPr>
            </a:pPr>
            <a:r>
              <a:t>Penyampaian ajaran Islam hendaknya membawa manfaat, menjaga persaudaraan, dan menghindari fitnah.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927080" cy="22860"/>
          </a:xfrm>
          <a:prstGeom prst="rect">
            <a:avLst/>
          </a:prstGeom>
          <a:solidFill>
            <a:srgbClr val="147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9224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47D7A"/>
                </a:solidFill>
              </a:defRPr>
            </a:pPr>
            <a:r>
              <a:t>DAKWAH, KHUTBAH, DAN TABLIG  •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3152"/>
                </a:solidFill>
                <a:latin typeface="Aptos Display"/>
              </a:defRPr>
            </a:pPr>
            <a:r>
              <a:t>Evaluasi Pembelajaran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B3641"/>
                </a:solidFill>
                <a:latin typeface="Aptos"/>
              </a:defRPr>
            </a:pPr>
            <a:r>
              <a:t>1. Jelaskan pengertian dakwah, tablig, dan khutbah.</a:t>
            </a:r>
          </a:p>
          <a:p>
            <a:pPr>
              <a:spcAft>
                <a:spcPts val="1000"/>
              </a:spcAft>
              <a:defRPr sz="1600">
                <a:solidFill>
                  <a:srgbClr val="2B3641"/>
                </a:solidFill>
                <a:latin typeface="Aptos"/>
              </a:defRPr>
            </a:pPr>
            <a:r>
              <a:t>2. Sebutkan tiga metode dakwah beserta contohnya.</a:t>
            </a:r>
          </a:p>
          <a:p>
            <a:pPr>
              <a:spcAft>
                <a:spcPts val="1000"/>
              </a:spcAft>
              <a:defRPr sz="1600">
                <a:solidFill>
                  <a:srgbClr val="2B3641"/>
                </a:solidFill>
                <a:latin typeface="Aptos"/>
              </a:defRPr>
            </a:pPr>
            <a:r>
              <a:t>3. Apa perbedaan utama antara dakwah dan tablig?</a:t>
            </a:r>
          </a:p>
          <a:p>
            <a:pPr>
              <a:spcAft>
                <a:spcPts val="1000"/>
              </a:spcAft>
              <a:defRPr sz="1600">
                <a:solidFill>
                  <a:srgbClr val="2B3641"/>
                </a:solidFill>
                <a:latin typeface="Aptos"/>
              </a:defRPr>
            </a:pPr>
            <a:r>
              <a:t>4. Sebutkan rukun khutbah Jumat menurut mazhab Syafi‘i.</a:t>
            </a:r>
          </a:p>
          <a:p>
            <a:pPr>
              <a:spcAft>
                <a:spcPts val="1000"/>
              </a:spcAft>
              <a:defRPr sz="1600">
                <a:solidFill>
                  <a:srgbClr val="2B3641"/>
                </a:solidFill>
                <a:latin typeface="Aptos"/>
              </a:defRPr>
            </a:pPr>
            <a:r>
              <a:t>5. Mengapa seorang pendakwah harus memeriksa kebenaran informasi sebelum menyebarkannya?</a:t>
            </a:r>
          </a:p>
          <a:p>
            <a:pPr>
              <a:spcAft>
                <a:spcPts val="1000"/>
              </a:spcAft>
              <a:defRPr sz="1600">
                <a:solidFill>
                  <a:srgbClr val="2B3641"/>
                </a:solidFill>
                <a:latin typeface="Aptos"/>
              </a:defRPr>
            </a:pPr>
            <a:r>
              <a:t>6. Berikan satu contoh dakwah bil-hal di lingkungan sekolah atau masyarakat.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927080" cy="22860"/>
          </a:xfrm>
          <a:prstGeom prst="rect">
            <a:avLst/>
          </a:prstGeom>
          <a:solidFill>
            <a:srgbClr val="147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9224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47D7A"/>
                </a:solidFill>
              </a:defRPr>
            </a:pPr>
            <a:r>
              <a:t>DAKWAH, KHUTBAH, DAN TABLIG  •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7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3152"/>
                </a:solidFill>
                <a:latin typeface="Aptos Display"/>
              </a:defRPr>
            </a:pPr>
            <a:r>
              <a:t>Referensi dan Catatan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B3641"/>
                </a:solidFill>
                <a:latin typeface="Aptos"/>
              </a:defRPr>
            </a:pPr>
            <a:r>
              <a:t>Al-Qur’an: QS. An-Nahl [16]: 125 dan QS. Ali ‘Imran [3]: 104.</a:t>
            </a:r>
          </a:p>
          <a:p>
            <a:pPr>
              <a:spcAft>
                <a:spcPts val="1000"/>
              </a:spcAft>
              <a:defRPr sz="1600">
                <a:solidFill>
                  <a:srgbClr val="2B3641"/>
                </a:solidFill>
                <a:latin typeface="Aptos"/>
              </a:defRPr>
            </a:pPr>
            <a:r>
              <a:t>Buku Pendidikan Agama Islam dan Budi Pekerti sesuai jenjang yang digunakan di sekolah.</a:t>
            </a:r>
          </a:p>
          <a:p>
            <a:pPr>
              <a:spcAft>
                <a:spcPts val="1000"/>
              </a:spcAft>
              <a:defRPr sz="1600">
                <a:solidFill>
                  <a:srgbClr val="2B3641"/>
                </a:solidFill>
                <a:latin typeface="Aptos"/>
              </a:defRPr>
            </a:pPr>
            <a:r>
              <a:t>Buku fikih tentang salat Jumat dan khutbah, dengan memperhatikan mazhab atau pedoman pembelajaran.</a:t>
            </a:r>
          </a:p>
          <a:p>
            <a:pPr>
              <a:spcAft>
                <a:spcPts val="1000"/>
              </a:spcAft>
              <a:defRPr sz="1600">
                <a:solidFill>
                  <a:srgbClr val="2B3641"/>
                </a:solidFill>
                <a:latin typeface="Aptos"/>
              </a:defRPr>
            </a:pPr>
            <a:r>
              <a:t>Catatan: rincian fikih khutbah dapat berbeda menurut mazhab. Guru dapat menyesuaikan penjelasan dengan kurikulum dan rujukan yang digunakan.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927080" cy="22860"/>
          </a:xfrm>
          <a:prstGeom prst="rect">
            <a:avLst/>
          </a:prstGeom>
          <a:solidFill>
            <a:srgbClr val="147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9224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47D7A"/>
                </a:solidFill>
              </a:defRPr>
            </a:pPr>
            <a:r>
              <a:t>DAKWAH, KHUTBAH, DAN TABLIG  • 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